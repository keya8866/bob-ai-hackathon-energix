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kzidenz-Grotesk Bold" charset="1" panose="02000803050000020004"/>
      <p:regular r:id="rId18"/>
    </p:embeddedFont>
    <p:embeddedFont>
      <p:font typeface="Archivo Black" charset="1" panose="020B0A03020202020B04"/>
      <p:regular r:id="rId19"/>
    </p:embeddedFont>
    <p:embeddedFont>
      <p:font typeface="Akzidenz-Grotesk" charset="1" panose="02000503030000020003"/>
      <p:regular r:id="rId20"/>
    </p:embeddedFont>
    <p:embeddedFont>
      <p:font typeface="Tomorrow Bold" charset="1" panose="00000000000000000000"/>
      <p:regular r:id="rId21"/>
    </p:embeddedFont>
    <p:embeddedFont>
      <p:font typeface="Tomorrow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018">
                <a:alpha val="4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38200" y="1390650"/>
            <a:ext cx="6667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PREDICTIVE GRID RESILIENCE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200" y="2457450"/>
            <a:ext cx="11906250" cy="104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76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GridGuard AI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38200" y="3733800"/>
            <a:ext cx="1619250" cy="47625"/>
            <a:chOff x="0" y="0"/>
            <a:chExt cx="2159000" cy="6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9000" cy="63500"/>
            </a:xfrm>
            <a:custGeom>
              <a:avLst/>
              <a:gdLst/>
              <a:ahLst/>
              <a:cxnLst/>
              <a:rect r="r" b="b" t="t" l="l"/>
              <a:pathLst>
                <a:path h="635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59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38200" y="3971925"/>
            <a:ext cx="99060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2FB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Intelligent Grid Failure &amp; Outage Prevention Across Generation, Transmission, Substations &amp; Distribution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8200" y="7962900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SEPTEMBER 15,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14350"/>
            <a:ext cx="10001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02  /  GRIDGUARD AI  ·  THE 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47750"/>
            <a:ext cx="14287500" cy="6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Prevent failures before they happen.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906000" y="2428875"/>
            <a:ext cx="7543800" cy="6572250"/>
          </a:xfrm>
          <a:custGeom>
            <a:avLst/>
            <a:gdLst/>
            <a:ahLst/>
            <a:cxnLst/>
            <a:rect r="r" b="b" t="t" l="l"/>
            <a:pathLst>
              <a:path h="6572250" w="7543800">
                <a:moveTo>
                  <a:pt x="0" y="0"/>
                </a:moveTo>
                <a:lnTo>
                  <a:pt x="7543800" y="0"/>
                </a:lnTo>
                <a:lnTo>
                  <a:pt x="75438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441" t="0" r="-27441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838200" y="2819400"/>
            <a:ext cx="78105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Transmission lines and substations face increasing failure risk due to aging assets and extreme weather.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8200" y="5324475"/>
            <a:ext cx="400050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850">
                <a:solidFill>
                  <a:srgbClr val="FF3B57"/>
                </a:solidFill>
                <a:latin typeface="Archivo Black"/>
                <a:ea typeface="Archivo Black"/>
                <a:cs typeface="Archivo Black"/>
                <a:sym typeface="Archivo Black"/>
              </a:rPr>
              <a:t>30%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14750" y="5334000"/>
            <a:ext cx="49530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2FB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of outages are caused by preventable equipment failures aggravated by weather.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8200" y="7915275"/>
            <a:ext cx="7810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FROM REACTIVE RESTORATION → PREDICTIVE PREVENTION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8200" y="9715500"/>
            <a:ext cx="166116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GRIDGUARD AI  •  PREDICT  /  PRIORITIZE  /  PREVENT                                      02</a:t>
            </a:r>
          </a:p>
        </p:txBody>
      </p:sp>
    </p:spTree>
  </p:cSld>
  <p:clrMapOvr>
    <a:masterClrMapping/>
  </p:clrMapOvr>
  <p:transition spd="med">
    <p:cover dir="r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14350"/>
            <a:ext cx="10001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03  /  GRIDGUARD AI  ·  COMPREHENSIVE COVERAGE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47750"/>
            <a:ext cx="14287500" cy="6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One intelligence layer. Every critical asset.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667875" y="2619375"/>
            <a:ext cx="7781925" cy="6191250"/>
          </a:xfrm>
          <a:custGeom>
            <a:avLst/>
            <a:gdLst/>
            <a:ahLst/>
            <a:cxnLst/>
            <a:rect r="r" b="b" t="t" l="l"/>
            <a:pathLst>
              <a:path h="6191250" w="7781925">
                <a:moveTo>
                  <a:pt x="0" y="0"/>
                </a:moveTo>
                <a:lnTo>
                  <a:pt x="7781925" y="0"/>
                </a:lnTo>
                <a:lnTo>
                  <a:pt x="7781925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19" t="0" r="-20719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38200" y="2571750"/>
            <a:ext cx="8096250" cy="1047750"/>
            <a:chOff x="0" y="0"/>
            <a:chExt cx="10795000" cy="1397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795000" cy="1397000"/>
              <a:chOff x="0" y="0"/>
              <a:chExt cx="10795000" cy="1397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795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795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33400" y="342900"/>
              <a:ext cx="3810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GENERATION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581400" y="301625"/>
              <a:ext cx="6731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2FB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Generators · step-up transformers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8200" y="3952875"/>
            <a:ext cx="8096250" cy="1047750"/>
            <a:chOff x="0" y="0"/>
            <a:chExt cx="10795000" cy="1397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795000" cy="1397000"/>
              <a:chOff x="0" y="0"/>
              <a:chExt cx="10795000" cy="1397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795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1029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795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33400" y="342900"/>
              <a:ext cx="3810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TRANSMISSION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1400" y="301625"/>
              <a:ext cx="6731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2FB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Towers · lines · insulators · breakers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8200" y="5334000"/>
            <a:ext cx="8096250" cy="1047750"/>
            <a:chOff x="0" y="0"/>
            <a:chExt cx="10795000" cy="1397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795000" cy="1397000"/>
              <a:chOff x="0" y="0"/>
              <a:chExt cx="10795000" cy="1397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795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795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33400" y="342900"/>
              <a:ext cx="3810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SUBSTATIONS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581400" y="301625"/>
              <a:ext cx="6731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2FB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Transformers · busbars · switchgear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38200" y="6715125"/>
            <a:ext cx="8096250" cy="1047750"/>
            <a:chOff x="0" y="0"/>
            <a:chExt cx="10795000" cy="1397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795000" cy="1397000"/>
              <a:chOff x="0" y="0"/>
              <a:chExt cx="10795000" cy="1397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795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795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33400" y="342900"/>
              <a:ext cx="3810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DISTRIBUTION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581400" y="301625"/>
              <a:ext cx="6731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2FB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Feeders · cables · field equipment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38200" y="9715500"/>
            <a:ext cx="166116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GRIDGUARD AI  •  PREDICT  /  PRIORITIZE  /  PREVENT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14350"/>
            <a:ext cx="10001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04  /  GRIDGUARD AI  ·  REAL-TIME + FORECAST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47750"/>
            <a:ext cx="14287500" cy="6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Line L-204  /  risk is already at 84%.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38200" y="2714625"/>
            <a:ext cx="4305300" cy="2571750"/>
            <a:chOff x="0" y="0"/>
            <a:chExt cx="5740400" cy="3429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334000" cy="3429000"/>
              <a:chOff x="0" y="0"/>
              <a:chExt cx="5334000" cy="3429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334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5334000">
                    <a:moveTo>
                      <a:pt x="0" y="0"/>
                    </a:moveTo>
                    <a:lnTo>
                      <a:pt x="5334000" y="0"/>
                    </a:lnTo>
                    <a:lnTo>
                      <a:pt x="5334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334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06400" y="612775"/>
              <a:ext cx="5334000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en-US" sz="5850">
                  <a:solidFill>
                    <a:srgbClr val="FF3B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84%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33400" y="1803400"/>
              <a:ext cx="4572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OVERALL RISK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469900" y="2730500"/>
              <a:ext cx="4191000" cy="203200"/>
              <a:chOff x="0" y="0"/>
              <a:chExt cx="4191000" cy="203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191000" cy="203200"/>
              </a:xfrm>
              <a:custGeom>
                <a:avLst/>
                <a:gdLst/>
                <a:ahLst/>
                <a:cxnLst/>
                <a:rect r="r" b="b" t="t" l="l"/>
                <a:pathLst>
                  <a:path h="2032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203200"/>
                    </a:lnTo>
                    <a:lnTo>
                      <a:pt x="0" y="203200"/>
                    </a:lnTo>
                    <a:close/>
                  </a:path>
                </a:pathLst>
              </a:custGeom>
              <a:solidFill>
                <a:srgbClr val="17324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191000" cy="241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69900" y="2730500"/>
              <a:ext cx="3517900" cy="203200"/>
              <a:chOff x="0" y="0"/>
              <a:chExt cx="3517900" cy="203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517900" cy="203200"/>
              </a:xfrm>
              <a:custGeom>
                <a:avLst/>
                <a:gdLst/>
                <a:ahLst/>
                <a:cxnLst/>
                <a:rect r="r" b="b" t="t" l="l"/>
                <a:pathLst>
                  <a:path h="203200" w="3517900">
                    <a:moveTo>
                      <a:pt x="0" y="0"/>
                    </a:moveTo>
                    <a:lnTo>
                      <a:pt x="3517900" y="0"/>
                    </a:lnTo>
                    <a:lnTo>
                      <a:pt x="3517900" y="203200"/>
                    </a:lnTo>
                    <a:lnTo>
                      <a:pt x="0" y="203200"/>
                    </a:lnTo>
                    <a:close/>
                  </a:path>
                </a:pathLst>
              </a:custGeom>
              <a:solidFill>
                <a:srgbClr val="FF3B5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517900" cy="241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5715000" y="2895600"/>
            <a:ext cx="1076325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F2FB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HIGH LOADING  ·  RISING CONDUCTOR TEMP  ·  EXTREME HEAT  ·  STRONG WIND  ·  PRIOR FAULTS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286375" y="4191000"/>
            <a:ext cx="4953000" cy="3048000"/>
            <a:chOff x="0" y="0"/>
            <a:chExt cx="6604000" cy="4064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04000" cy="4064000"/>
              <a:chOff x="0" y="0"/>
              <a:chExt cx="6604000" cy="4064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040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6040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1500" y="396875"/>
              <a:ext cx="5588000" cy="1771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43"/>
                </a:lnSpc>
              </a:pPr>
              <a:r>
                <a:rPr lang="en-US" sz="2625">
                  <a:solidFill>
                    <a:srgbClr val="F2FB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 substations affected</a:t>
              </a:r>
            </a:p>
            <a:p>
              <a:pPr algn="l">
                <a:lnSpc>
                  <a:spcPts val="3543"/>
                </a:lnSpc>
              </a:pPr>
              <a:r>
                <a:rPr lang="en-US" sz="2625">
                  <a:solidFill>
                    <a:srgbClr val="F2FB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15 MW load</a:t>
              </a:r>
            </a:p>
            <a:p>
              <a:pPr algn="l">
                <a:lnSpc>
                  <a:spcPts val="3543"/>
                </a:lnSpc>
              </a:pPr>
              <a:r>
                <a:rPr lang="en-US" sz="2625">
                  <a:solidFill>
                    <a:srgbClr val="F2FB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12,000 consumers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82250" y="4191000"/>
            <a:ext cx="6191250" cy="3048000"/>
            <a:chOff x="0" y="0"/>
            <a:chExt cx="8255000" cy="4064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8255000" cy="4064000"/>
              <a:chOff x="0" y="0"/>
              <a:chExt cx="8255000" cy="4064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2550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1029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8255000" cy="410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08000" y="469900"/>
              <a:ext cx="6350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RECOMMENDED ACTION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08000" y="1114425"/>
              <a:ext cx="7239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2FB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Inspect towers + insulators before storm. Prepare alternate power flow.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428750" y="8096250"/>
            <a:ext cx="15049500" cy="0"/>
          </a:xfrm>
          <a:prstGeom prst="line">
            <a:avLst/>
          </a:prstGeom>
          <a:ln cap="rnd" w="76200">
            <a:solidFill>
              <a:srgbClr val="FF3B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838200" y="9715500"/>
            <a:ext cx="166116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GRIDGUARD AI  •  PREDICT  /  PRIORITIZE  /  PREVENT                                      04</a:t>
            </a:r>
          </a:p>
        </p:txBody>
      </p:sp>
    </p:spTree>
  </p:cSld>
  <p:clrMapOvr>
    <a:masterClrMapping/>
  </p:clrMapOvr>
  <p:transition spd="med">
    <p:cover dir="rd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14350"/>
            <a:ext cx="10001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05  /  GRIDGUARD AI  ·  STRUCTURAL HEALTH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47750"/>
            <a:ext cx="14287500" cy="6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Tower T-108  /  structural risk 82%.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2571750"/>
            <a:ext cx="6762750" cy="876300"/>
            <a:chOff x="0" y="0"/>
            <a:chExt cx="9017000" cy="11684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017000" cy="1168400"/>
              <a:chOff x="0" y="0"/>
              <a:chExt cx="9017000" cy="1168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017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9017000">
                    <a:moveTo>
                      <a:pt x="0" y="0"/>
                    </a:moveTo>
                    <a:lnTo>
                      <a:pt x="9017000" y="0"/>
                    </a:lnTo>
                    <a:lnTo>
                      <a:pt x="9017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017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8000" y="342900"/>
              <a:ext cx="4318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TILT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080000" y="196850"/>
              <a:ext cx="3429000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>
                  <a:solidFill>
                    <a:srgbClr val="FF3B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2.8°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3695700"/>
            <a:ext cx="6762750" cy="876300"/>
            <a:chOff x="0" y="0"/>
            <a:chExt cx="9017000" cy="1168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017000" cy="1168400"/>
              <a:chOff x="0" y="0"/>
              <a:chExt cx="9017000" cy="1168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017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9017000">
                    <a:moveTo>
                      <a:pt x="0" y="0"/>
                    </a:moveTo>
                    <a:lnTo>
                      <a:pt x="9017000" y="0"/>
                    </a:lnTo>
                    <a:lnTo>
                      <a:pt x="9017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9017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08000" y="342900"/>
              <a:ext cx="4318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VIBRATION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080000" y="196850"/>
              <a:ext cx="3429000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>
                  <a:solidFill>
                    <a:srgbClr val="FF8A3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HIGH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3000" y="4819650"/>
            <a:ext cx="6762750" cy="876300"/>
            <a:chOff x="0" y="0"/>
            <a:chExt cx="9017000" cy="11684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017000" cy="1168400"/>
              <a:chOff x="0" y="0"/>
              <a:chExt cx="9017000" cy="1168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017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9017000">
                    <a:moveTo>
                      <a:pt x="0" y="0"/>
                    </a:moveTo>
                    <a:lnTo>
                      <a:pt x="9017000" y="0"/>
                    </a:lnTo>
                    <a:lnTo>
                      <a:pt x="9017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017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08000" y="342900"/>
              <a:ext cx="4318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CORROSION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080000" y="196850"/>
              <a:ext cx="3429000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>
                  <a:solidFill>
                    <a:srgbClr val="FFD16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34%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3000" y="5943600"/>
            <a:ext cx="6762750" cy="876300"/>
            <a:chOff x="0" y="0"/>
            <a:chExt cx="9017000" cy="11684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017000" cy="1168400"/>
              <a:chOff x="0" y="0"/>
              <a:chExt cx="9017000" cy="1168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017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9017000">
                    <a:moveTo>
                      <a:pt x="0" y="0"/>
                    </a:moveTo>
                    <a:lnTo>
                      <a:pt x="9017000" y="0"/>
                    </a:lnTo>
                    <a:lnTo>
                      <a:pt x="9017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9017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08000" y="342900"/>
              <a:ext cx="4318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WIND FORECAST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080000" y="196850"/>
              <a:ext cx="3429000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>
                  <a:solidFill>
                    <a:srgbClr val="FF3B5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92 km/h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3000" y="7067550"/>
            <a:ext cx="6762750" cy="876300"/>
            <a:chOff x="0" y="0"/>
            <a:chExt cx="9017000" cy="11684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9017000" cy="1168400"/>
              <a:chOff x="0" y="0"/>
              <a:chExt cx="9017000" cy="1168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017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9017000">
                    <a:moveTo>
                      <a:pt x="0" y="0"/>
                    </a:moveTo>
                    <a:lnTo>
                      <a:pt x="9017000" y="0"/>
                    </a:lnTo>
                    <a:lnTo>
                      <a:pt x="9017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9017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508000" y="342900"/>
              <a:ext cx="4318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79" b="true">
                  <a:solidFill>
                    <a:srgbClr val="35E7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FOUNDATION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080000" y="196850"/>
              <a:ext cx="3429000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>
                  <a:solidFill>
                    <a:srgbClr val="FF8A3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WATCH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01250" y="2667000"/>
            <a:ext cx="5143500" cy="4286250"/>
            <a:chOff x="0" y="0"/>
            <a:chExt cx="6858000" cy="5715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580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6858000">
                  <a:moveTo>
                    <a:pt x="32926" y="0"/>
                  </a:moveTo>
                  <a:lnTo>
                    <a:pt x="6825074" y="0"/>
                  </a:lnTo>
                  <a:cubicBezTo>
                    <a:pt x="6833807" y="0"/>
                    <a:pt x="6842182" y="3469"/>
                    <a:pt x="6848356" y="9644"/>
                  </a:cubicBezTo>
                  <a:cubicBezTo>
                    <a:pt x="6854531" y="15819"/>
                    <a:pt x="6858000" y="24193"/>
                    <a:pt x="6858000" y="32926"/>
                  </a:cubicBezTo>
                  <a:lnTo>
                    <a:pt x="6858000" y="5682074"/>
                  </a:lnTo>
                  <a:cubicBezTo>
                    <a:pt x="6858000" y="5690807"/>
                    <a:pt x="6854531" y="5699182"/>
                    <a:pt x="6848356" y="5705356"/>
                  </a:cubicBezTo>
                  <a:cubicBezTo>
                    <a:pt x="6842182" y="5711531"/>
                    <a:pt x="6833807" y="5715000"/>
                    <a:pt x="6825074" y="5715000"/>
                  </a:cubicBezTo>
                  <a:lnTo>
                    <a:pt x="32926" y="5715000"/>
                  </a:lnTo>
                  <a:cubicBezTo>
                    <a:pt x="24193" y="5715000"/>
                    <a:pt x="15819" y="5711531"/>
                    <a:pt x="9644" y="5705356"/>
                  </a:cubicBezTo>
                  <a:cubicBezTo>
                    <a:pt x="3469" y="5699182"/>
                    <a:pt x="0" y="5690807"/>
                    <a:pt x="0" y="5682074"/>
                  </a:cubicBezTo>
                  <a:lnTo>
                    <a:pt x="0" y="32926"/>
                  </a:lnTo>
                  <a:cubicBezTo>
                    <a:pt x="0" y="24193"/>
                    <a:pt x="3469" y="15819"/>
                    <a:pt x="9644" y="9644"/>
                  </a:cubicBezTo>
                  <a:cubicBezTo>
                    <a:pt x="15819" y="3469"/>
                    <a:pt x="24193" y="0"/>
                    <a:pt x="32926" y="0"/>
                  </a:cubicBezTo>
                  <a:close/>
                </a:path>
              </a:pathLst>
            </a:custGeom>
            <a:solidFill>
              <a:srgbClr val="0D1C2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8580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LIVE TOWER DIGITAL MODEL</a:t>
              </a:r>
            </a:p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T-108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2573000" y="3143250"/>
            <a:ext cx="571500" cy="3048000"/>
          </a:xfrm>
          <a:prstGeom prst="line">
            <a:avLst/>
          </a:prstGeom>
          <a:ln cap="rnd" w="66675">
            <a:solidFill>
              <a:srgbClr val="FF3B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9810750" y="7486650"/>
            <a:ext cx="5524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AI RECOMMENDATION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10750" y="7924800"/>
            <a:ext cx="6191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2FB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Inspect critical members before the high-wind event.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8200" y="9715500"/>
            <a:ext cx="166116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GRIDGUARD AI  •  PREDICT  /  PRIORITIZE  /  PREVENT                                      05</a:t>
            </a:r>
          </a:p>
        </p:txBody>
      </p:sp>
    </p:spTree>
  </p:cSld>
  <p:clrMapOvr>
    <a:masterClrMapping/>
  </p:clrMapOvr>
  <p:transition spd="med">
    <p:cover dir="r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43125"/>
            <a:ext cx="10458450" cy="6858000"/>
          </a:xfrm>
          <a:custGeom>
            <a:avLst/>
            <a:gdLst/>
            <a:ahLst/>
            <a:cxnLst/>
            <a:rect r="r" b="b" t="t" l="l"/>
            <a:pathLst>
              <a:path h="6858000" w="10458450">
                <a:moveTo>
                  <a:pt x="0" y="0"/>
                </a:moveTo>
                <a:lnTo>
                  <a:pt x="10458450" y="0"/>
                </a:lnTo>
                <a:lnTo>
                  <a:pt x="104584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4672" y="610142"/>
            <a:ext cx="4645152" cy="23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6"/>
              </a:lnSpc>
            </a:pPr>
            <a:r>
              <a:rPr lang="en-US" b="true" sz="1347" spc="269">
                <a:solidFill>
                  <a:srgbClr val="00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06 / GRIDGUARD AI • INSULATOR 1-45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1248" y="1171361"/>
            <a:ext cx="11667744" cy="56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1"/>
              </a:lnSpc>
            </a:pPr>
            <a:r>
              <a:rPr lang="en-US" sz="417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Flashover risk is visible before failure.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1248" y="9694831"/>
            <a:ext cx="4645152" cy="1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 spc="11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GRIDGUARD AI • PREDICT / PRIORITIZE / PREVENT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77550" y="2571750"/>
            <a:ext cx="3276600" cy="1714500"/>
          </a:xfrm>
          <a:custGeom>
            <a:avLst/>
            <a:gdLst/>
            <a:ahLst/>
            <a:cxnLst/>
            <a:rect r="r" b="b" t="t" l="l"/>
            <a:pathLst>
              <a:path h="1714500" w="3276600">
                <a:moveTo>
                  <a:pt x="0" y="0"/>
                </a:moveTo>
                <a:lnTo>
                  <a:pt x="3276600" y="0"/>
                </a:lnTo>
                <a:lnTo>
                  <a:pt x="3276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539728" y="2890063"/>
            <a:ext cx="2395728" cy="106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5"/>
              </a:lnSpc>
            </a:pPr>
            <a:r>
              <a:rPr lang="en-US" sz="7995">
                <a:solidFill>
                  <a:srgbClr val="FF3131"/>
                </a:solidFill>
                <a:latin typeface="Archivo Black"/>
                <a:ea typeface="Archivo Black"/>
                <a:cs typeface="Archivo Black"/>
                <a:sym typeface="Archivo Black"/>
              </a:rPr>
              <a:t>79%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76304" y="3953566"/>
            <a:ext cx="2304288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b="true" sz="1584" spc="158">
                <a:solidFill>
                  <a:srgbClr val="00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FLASHOVER RISK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77550" y="4495800"/>
            <a:ext cx="228600" cy="3009900"/>
          </a:xfrm>
          <a:custGeom>
            <a:avLst/>
            <a:gdLst/>
            <a:ahLst/>
            <a:cxnLst/>
            <a:rect r="r" b="b" t="t" l="l"/>
            <a:pathLst>
              <a:path h="3009900" w="228600">
                <a:moveTo>
                  <a:pt x="0" y="0"/>
                </a:moveTo>
                <a:lnTo>
                  <a:pt x="228600" y="0"/>
                </a:lnTo>
                <a:lnTo>
                  <a:pt x="22860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539728" y="4936129"/>
            <a:ext cx="1847088" cy="35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 spc="10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DUST + SALT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39728" y="5556456"/>
            <a:ext cx="1389888" cy="33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006" spc="1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HUMIDITY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058775" y="557212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539728" y="6149995"/>
            <a:ext cx="2761488" cy="35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 spc="10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LEAKAGE CURRENT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363700" y="6210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539728" y="6756928"/>
            <a:ext cx="2578608" cy="35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076" spc="10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RAIN + CRACKING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877550" y="7715250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033504" y="8112919"/>
            <a:ext cx="4754880" cy="29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b="true" sz="1762" spc="176">
                <a:solidFill>
                  <a:srgbClr val="00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CLEAN BEFORE SEVERE WEATHER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972925" y="8353425"/>
            <a:ext cx="4791075" cy="438150"/>
          </a:xfrm>
          <a:custGeom>
            <a:avLst/>
            <a:gdLst/>
            <a:ahLst/>
            <a:cxnLst/>
            <a:rect r="r" b="b" t="t" l="l"/>
            <a:pathLst>
              <a:path h="438150" w="4791075">
                <a:moveTo>
                  <a:pt x="0" y="0"/>
                </a:moveTo>
                <a:lnTo>
                  <a:pt x="4791075" y="0"/>
                </a:lnTo>
                <a:lnTo>
                  <a:pt x="47910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89520" y="9694831"/>
            <a:ext cx="256032" cy="1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7"/>
              </a:lnSpc>
            </a:pPr>
            <a:r>
              <a:rPr lang="en-US" sz="1162" spc="11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06</a:t>
            </a:r>
          </a:p>
        </p:txBody>
      </p:sp>
    </p:spTree>
  </p:cSld>
  <p:clrMapOvr>
    <a:masterClrMapping/>
  </p:clrMapOvr>
  <p:transition spd="med">
    <p:cover dir="ru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14350"/>
            <a:ext cx="10001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07  /  GRIDGUARD AI  ·  CONDUCTOR SAFETY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47750"/>
            <a:ext cx="14287500" cy="6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Forecast heat. Predict sag. Protect clearance.</a:t>
            </a:r>
          </a:p>
        </p:txBody>
      </p:sp>
      <p:sp>
        <p:nvSpPr>
          <p:cNvPr name="AutoShape 4" id="4"/>
          <p:cNvSpPr/>
          <p:nvPr/>
        </p:nvSpPr>
        <p:spPr>
          <a:xfrm>
            <a:off x="1333500" y="3714750"/>
            <a:ext cx="7620000" cy="1905000"/>
          </a:xfrm>
          <a:prstGeom prst="line">
            <a:avLst/>
          </a:prstGeom>
          <a:ln cap="rnd" w="95250">
            <a:solidFill>
              <a:srgbClr val="FF8A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8953500" y="3714750"/>
            <a:ext cx="7620000" cy="1905000"/>
          </a:xfrm>
          <a:prstGeom prst="line">
            <a:avLst/>
          </a:prstGeom>
          <a:ln cap="rnd" w="95250">
            <a:solidFill>
              <a:srgbClr val="FF8A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428750" y="4200525"/>
            <a:ext cx="2857500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0"/>
              </a:lnSpc>
            </a:pPr>
            <a:r>
              <a:rPr lang="en-US" sz="4350">
                <a:solidFill>
                  <a:srgbClr val="FF8A3D"/>
                </a:solidFill>
                <a:latin typeface="Archivo Black"/>
                <a:ea typeface="Archivo Black"/>
                <a:cs typeface="Archivo Black"/>
                <a:sym typeface="Archivo Black"/>
              </a:rPr>
              <a:t>94°C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91375" y="5876925"/>
            <a:ext cx="361950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3B57"/>
                </a:solidFill>
                <a:latin typeface="Archivo Black"/>
                <a:ea typeface="Archivo Black"/>
                <a:cs typeface="Archivo Black"/>
                <a:sym typeface="Archivo Black"/>
              </a:rPr>
              <a:t>5.6 m SAG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06250" y="4248150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CLEARANCE RISK FLAGGED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8250" y="7524750"/>
            <a:ext cx="2905125" cy="952500"/>
            <a:chOff x="0" y="0"/>
            <a:chExt cx="3873500" cy="1270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873500" cy="1270000"/>
              <a:chOff x="0" y="0"/>
              <a:chExt cx="3873500" cy="127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8735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3873500">
                    <a:moveTo>
                      <a:pt x="0" y="0"/>
                    </a:moveTo>
                    <a:lnTo>
                      <a:pt x="3873500" y="0"/>
                    </a:lnTo>
                    <a:lnTo>
                      <a:pt x="38735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8735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54000" y="415925"/>
              <a:ext cx="36195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8A3D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CONDUCTOR TEMP  82%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81500" y="7524750"/>
            <a:ext cx="2905125" cy="952500"/>
            <a:chOff x="0" y="0"/>
            <a:chExt cx="3873500" cy="1270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873500" cy="1270000"/>
              <a:chOff x="0" y="0"/>
              <a:chExt cx="3873500" cy="127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8735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3873500">
                    <a:moveTo>
                      <a:pt x="0" y="0"/>
                    </a:moveTo>
                    <a:lnTo>
                      <a:pt x="3873500" y="0"/>
                    </a:lnTo>
                    <a:lnTo>
                      <a:pt x="38735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8735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54000" y="415925"/>
              <a:ext cx="36195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D16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SAG  71%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24750" y="7524750"/>
            <a:ext cx="2905125" cy="952500"/>
            <a:chOff x="0" y="0"/>
            <a:chExt cx="3873500" cy="1270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73500" cy="1270000"/>
              <a:chOff x="0" y="0"/>
              <a:chExt cx="3873500" cy="127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8735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3873500">
                    <a:moveTo>
                      <a:pt x="0" y="0"/>
                    </a:moveTo>
                    <a:lnTo>
                      <a:pt x="3873500" y="0"/>
                    </a:lnTo>
                    <a:lnTo>
                      <a:pt x="38735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8735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54000" y="415925"/>
              <a:ext cx="36195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D16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CLEARANCE  64%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68000" y="7524750"/>
            <a:ext cx="2905125" cy="952500"/>
            <a:chOff x="0" y="0"/>
            <a:chExt cx="3873500" cy="1270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873500" cy="1270000"/>
              <a:chOff x="0" y="0"/>
              <a:chExt cx="3873500" cy="127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8735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3873500">
                    <a:moveTo>
                      <a:pt x="0" y="0"/>
                    </a:moveTo>
                    <a:lnTo>
                      <a:pt x="3873500" y="0"/>
                    </a:lnTo>
                    <a:lnTo>
                      <a:pt x="38735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8735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54000" y="415925"/>
              <a:ext cx="36195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3B5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WEATHER  89%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811250" y="7524750"/>
            <a:ext cx="2905125" cy="952500"/>
            <a:chOff x="0" y="0"/>
            <a:chExt cx="3873500" cy="1270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3873500" cy="1270000"/>
              <a:chOff x="0" y="0"/>
              <a:chExt cx="3873500" cy="1270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8735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3873500">
                    <a:moveTo>
                      <a:pt x="0" y="0"/>
                    </a:moveTo>
                    <a:lnTo>
                      <a:pt x="3873500" y="0"/>
                    </a:lnTo>
                    <a:lnTo>
                      <a:pt x="38735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D1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38735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54000" y="415925"/>
              <a:ext cx="36195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 b="true">
                  <a:solidFill>
                    <a:srgbClr val="FF3B5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OVERALL  84%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38200" y="9715500"/>
            <a:ext cx="166116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GRIDGUARD AI  •  PREDICT  /  PRIORITIZE  /  PREVENT                                      07</a:t>
            </a:r>
          </a:p>
        </p:txBody>
      </p:sp>
    </p:spTree>
  </p:cSld>
  <p:clrMapOvr>
    <a:masterClrMapping/>
  </p:clrMapOvr>
  <p:transition spd="med">
    <p:cover dir="rd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14350"/>
            <a:ext cx="10001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08  /  GRIDGUARD AI  ·  WEATHER RISK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47750"/>
            <a:ext cx="14287500" cy="6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Weather becomes asset-specific intelligence.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2857500"/>
            <a:ext cx="3143250" cy="1047750"/>
            <a:chOff x="0" y="0"/>
            <a:chExt cx="4191000" cy="139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343121"/>
                  </a:lnTo>
                  <a:cubicBezTo>
                    <a:pt x="4191000" y="1357411"/>
                    <a:pt x="4185324" y="1371115"/>
                    <a:pt x="4175219" y="1381219"/>
                  </a:cubicBezTo>
                  <a:cubicBezTo>
                    <a:pt x="4165115" y="1391324"/>
                    <a:pt x="4151411" y="1397000"/>
                    <a:pt x="4137121" y="1397000"/>
                  </a:cubicBezTo>
                  <a:lnTo>
                    <a:pt x="53879" y="1397000"/>
                  </a:lnTo>
                  <a:cubicBezTo>
                    <a:pt x="39589" y="1397000"/>
                    <a:pt x="25885" y="1391324"/>
                    <a:pt x="15781" y="1381219"/>
                  </a:cubicBezTo>
                  <a:cubicBezTo>
                    <a:pt x="5676" y="1371115"/>
                    <a:pt x="0" y="1357411"/>
                    <a:pt x="0" y="1343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91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LIGHTNING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4476750" y="3381375"/>
            <a:ext cx="4381500" cy="0"/>
          </a:xfrm>
          <a:prstGeom prst="line">
            <a:avLst/>
          </a:prstGeom>
          <a:ln cap="rnd" w="38100">
            <a:solidFill>
              <a:srgbClr val="FF3B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144000" y="2762250"/>
            <a:ext cx="6858000" cy="1238250"/>
            <a:chOff x="0" y="0"/>
            <a:chExt cx="91440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9144000">
                  <a:moveTo>
                    <a:pt x="24694" y="0"/>
                  </a:moveTo>
                  <a:lnTo>
                    <a:pt x="9119305" y="0"/>
                  </a:lnTo>
                  <a:cubicBezTo>
                    <a:pt x="9125855" y="0"/>
                    <a:pt x="9132136" y="2602"/>
                    <a:pt x="9136767" y="7233"/>
                  </a:cubicBezTo>
                  <a:cubicBezTo>
                    <a:pt x="9141399" y="11864"/>
                    <a:pt x="9144000" y="18145"/>
                    <a:pt x="9144000" y="24694"/>
                  </a:cubicBezTo>
                  <a:lnTo>
                    <a:pt x="9144000" y="1626306"/>
                  </a:lnTo>
                  <a:cubicBezTo>
                    <a:pt x="9144000" y="1632855"/>
                    <a:pt x="9141399" y="1639136"/>
                    <a:pt x="9136767" y="1643767"/>
                  </a:cubicBezTo>
                  <a:cubicBezTo>
                    <a:pt x="9132136" y="1648398"/>
                    <a:pt x="9125855" y="1651000"/>
                    <a:pt x="9119305" y="1651000"/>
                  </a:cubicBezTo>
                  <a:lnTo>
                    <a:pt x="24694" y="1651000"/>
                  </a:lnTo>
                  <a:cubicBezTo>
                    <a:pt x="18145" y="1651000"/>
                    <a:pt x="11864" y="1648398"/>
                    <a:pt x="7233" y="1643767"/>
                  </a:cubicBezTo>
                  <a:cubicBezTo>
                    <a:pt x="2602" y="1639136"/>
                    <a:pt x="0" y="1632855"/>
                    <a:pt x="0" y="1626306"/>
                  </a:cubicBezTo>
                  <a:lnTo>
                    <a:pt x="0" y="24694"/>
                  </a:lnTo>
                  <a:cubicBezTo>
                    <a:pt x="0" y="18145"/>
                    <a:pt x="2602" y="11864"/>
                    <a:pt x="7233" y="7233"/>
                  </a:cubicBezTo>
                  <a:cubicBezTo>
                    <a:pt x="11864" y="2602"/>
                    <a:pt x="18145" y="0"/>
                    <a:pt x="24694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Arresters · insulators · trips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4667250"/>
            <a:ext cx="3143250" cy="1047750"/>
            <a:chOff x="0" y="0"/>
            <a:chExt cx="4191000" cy="139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9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343121"/>
                  </a:lnTo>
                  <a:cubicBezTo>
                    <a:pt x="4191000" y="1357411"/>
                    <a:pt x="4185324" y="1371115"/>
                    <a:pt x="4175219" y="1381219"/>
                  </a:cubicBezTo>
                  <a:cubicBezTo>
                    <a:pt x="4165115" y="1391324"/>
                    <a:pt x="4151411" y="1397000"/>
                    <a:pt x="4137121" y="1397000"/>
                  </a:cubicBezTo>
                  <a:lnTo>
                    <a:pt x="53879" y="1397000"/>
                  </a:lnTo>
                  <a:cubicBezTo>
                    <a:pt x="39589" y="1397000"/>
                    <a:pt x="25885" y="1391324"/>
                    <a:pt x="15781" y="1381219"/>
                  </a:cubicBezTo>
                  <a:cubicBezTo>
                    <a:pt x="5676" y="1371115"/>
                    <a:pt x="0" y="1357411"/>
                    <a:pt x="0" y="1343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0D1C2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191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HIGH WIND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476750" y="5191125"/>
            <a:ext cx="4381500" cy="0"/>
          </a:xfrm>
          <a:prstGeom prst="line">
            <a:avLst/>
          </a:prstGeom>
          <a:ln cap="rnd" w="38100">
            <a:solidFill>
              <a:srgbClr val="35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144000" y="4572000"/>
            <a:ext cx="6858000" cy="1238250"/>
            <a:chOff x="0" y="0"/>
            <a:chExt cx="9144000" cy="1651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9144000">
                  <a:moveTo>
                    <a:pt x="24694" y="0"/>
                  </a:moveTo>
                  <a:lnTo>
                    <a:pt x="9119305" y="0"/>
                  </a:lnTo>
                  <a:cubicBezTo>
                    <a:pt x="9125855" y="0"/>
                    <a:pt x="9132136" y="2602"/>
                    <a:pt x="9136767" y="7233"/>
                  </a:cubicBezTo>
                  <a:cubicBezTo>
                    <a:pt x="9141399" y="11864"/>
                    <a:pt x="9144000" y="18145"/>
                    <a:pt x="9144000" y="24694"/>
                  </a:cubicBezTo>
                  <a:lnTo>
                    <a:pt x="9144000" y="1626306"/>
                  </a:lnTo>
                  <a:cubicBezTo>
                    <a:pt x="9144000" y="1632855"/>
                    <a:pt x="9141399" y="1639136"/>
                    <a:pt x="9136767" y="1643767"/>
                  </a:cubicBezTo>
                  <a:cubicBezTo>
                    <a:pt x="9132136" y="1648398"/>
                    <a:pt x="9125855" y="1651000"/>
                    <a:pt x="9119305" y="1651000"/>
                  </a:cubicBezTo>
                  <a:lnTo>
                    <a:pt x="24694" y="1651000"/>
                  </a:lnTo>
                  <a:cubicBezTo>
                    <a:pt x="18145" y="1651000"/>
                    <a:pt x="11864" y="1648398"/>
                    <a:pt x="7233" y="1643767"/>
                  </a:cubicBezTo>
                  <a:cubicBezTo>
                    <a:pt x="2602" y="1639136"/>
                    <a:pt x="0" y="1632855"/>
                    <a:pt x="0" y="1626306"/>
                  </a:cubicBezTo>
                  <a:lnTo>
                    <a:pt x="0" y="24694"/>
                  </a:lnTo>
                  <a:cubicBezTo>
                    <a:pt x="0" y="18145"/>
                    <a:pt x="2602" y="11864"/>
                    <a:pt x="7233" y="7233"/>
                  </a:cubicBezTo>
                  <a:cubicBezTo>
                    <a:pt x="11864" y="2602"/>
                    <a:pt x="18145" y="0"/>
                    <a:pt x="24694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Tower stress · swing · trees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" y="6477000"/>
            <a:ext cx="3143250" cy="1047750"/>
            <a:chOff x="0" y="0"/>
            <a:chExt cx="41910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91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343121"/>
                  </a:lnTo>
                  <a:cubicBezTo>
                    <a:pt x="4191000" y="1357411"/>
                    <a:pt x="4185324" y="1371115"/>
                    <a:pt x="4175219" y="1381219"/>
                  </a:cubicBezTo>
                  <a:cubicBezTo>
                    <a:pt x="4165115" y="1391324"/>
                    <a:pt x="4151411" y="1397000"/>
                    <a:pt x="4137121" y="1397000"/>
                  </a:cubicBezTo>
                  <a:lnTo>
                    <a:pt x="53879" y="1397000"/>
                  </a:lnTo>
                  <a:cubicBezTo>
                    <a:pt x="39589" y="1397000"/>
                    <a:pt x="25885" y="1391324"/>
                    <a:pt x="15781" y="1381219"/>
                  </a:cubicBezTo>
                  <a:cubicBezTo>
                    <a:pt x="5676" y="1371115"/>
                    <a:pt x="0" y="1357411"/>
                    <a:pt x="0" y="13431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0D1C2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191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EXTREME HEAT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4476750" y="7000875"/>
            <a:ext cx="4381500" cy="0"/>
          </a:xfrm>
          <a:prstGeom prst="line">
            <a:avLst/>
          </a:prstGeom>
          <a:ln cap="rnd" w="38100">
            <a:solidFill>
              <a:srgbClr val="35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144000" y="6381750"/>
            <a:ext cx="6858000" cy="1238250"/>
            <a:chOff x="0" y="0"/>
            <a:chExt cx="9144000" cy="165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9144000">
                  <a:moveTo>
                    <a:pt x="24694" y="0"/>
                  </a:moveTo>
                  <a:lnTo>
                    <a:pt x="9119305" y="0"/>
                  </a:lnTo>
                  <a:cubicBezTo>
                    <a:pt x="9125855" y="0"/>
                    <a:pt x="9132136" y="2602"/>
                    <a:pt x="9136767" y="7233"/>
                  </a:cubicBezTo>
                  <a:cubicBezTo>
                    <a:pt x="9141399" y="11864"/>
                    <a:pt x="9144000" y="18145"/>
                    <a:pt x="9144000" y="24694"/>
                  </a:cubicBezTo>
                  <a:lnTo>
                    <a:pt x="9144000" y="1626306"/>
                  </a:lnTo>
                  <a:cubicBezTo>
                    <a:pt x="9144000" y="1632855"/>
                    <a:pt x="9141399" y="1639136"/>
                    <a:pt x="9136767" y="1643767"/>
                  </a:cubicBezTo>
                  <a:cubicBezTo>
                    <a:pt x="9132136" y="1648398"/>
                    <a:pt x="9125855" y="1651000"/>
                    <a:pt x="9119305" y="1651000"/>
                  </a:cubicBezTo>
                  <a:lnTo>
                    <a:pt x="24694" y="1651000"/>
                  </a:lnTo>
                  <a:cubicBezTo>
                    <a:pt x="18145" y="1651000"/>
                    <a:pt x="11864" y="1648398"/>
                    <a:pt x="7233" y="1643767"/>
                  </a:cubicBezTo>
                  <a:cubicBezTo>
                    <a:pt x="2602" y="1639136"/>
                    <a:pt x="0" y="1632855"/>
                    <a:pt x="0" y="1626306"/>
                  </a:cubicBezTo>
                  <a:lnTo>
                    <a:pt x="0" y="24694"/>
                  </a:lnTo>
                  <a:cubicBezTo>
                    <a:pt x="0" y="18145"/>
                    <a:pt x="2602" y="11864"/>
                    <a:pt x="7233" y="7233"/>
                  </a:cubicBezTo>
                  <a:cubicBezTo>
                    <a:pt x="11864" y="2602"/>
                    <a:pt x="18145" y="0"/>
                    <a:pt x="24694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144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Conductor sag · transformer load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238750" y="8201025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79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WIND  ·  RAIN  ·  LIGHTNING  ·  HEAT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8200" y="9715500"/>
            <a:ext cx="166116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GRIDGUARD AI  •  PREDICT  /  PRIORITIZE  /  PREVENT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14350"/>
            <a:ext cx="10001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09  /  GRIDGUARD AI  ·  IMPACT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47750"/>
            <a:ext cx="14287500" cy="6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 digital twin sees the cascade.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3857625"/>
            <a:ext cx="2000250" cy="1000125"/>
            <a:chOff x="0" y="0"/>
            <a:chExt cx="2667000" cy="133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84667" y="0"/>
                  </a:moveTo>
                  <a:lnTo>
                    <a:pt x="2582333" y="0"/>
                  </a:lnTo>
                  <a:cubicBezTo>
                    <a:pt x="2629093" y="0"/>
                    <a:pt x="2667000" y="37907"/>
                    <a:pt x="2667000" y="84667"/>
                  </a:cubicBezTo>
                  <a:lnTo>
                    <a:pt x="2667000" y="1248833"/>
                  </a:lnTo>
                  <a:cubicBezTo>
                    <a:pt x="2667000" y="1295593"/>
                    <a:pt x="2629093" y="1333500"/>
                    <a:pt x="2582333" y="1333500"/>
                  </a:cubicBezTo>
                  <a:lnTo>
                    <a:pt x="84667" y="1333500"/>
                  </a:lnTo>
                  <a:cubicBezTo>
                    <a:pt x="37907" y="1333500"/>
                    <a:pt x="0" y="1295593"/>
                    <a:pt x="0" y="1248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GENERATOR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2857500" y="4352925"/>
            <a:ext cx="476250" cy="1143000"/>
          </a:xfrm>
          <a:prstGeom prst="line">
            <a:avLst/>
          </a:prstGeom>
          <a:ln cap="rnd" w="38100">
            <a:solidFill>
              <a:srgbClr val="35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333750" y="5000625"/>
            <a:ext cx="2000250" cy="1000125"/>
            <a:chOff x="0" y="0"/>
            <a:chExt cx="2667000" cy="133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84667" y="0"/>
                  </a:moveTo>
                  <a:lnTo>
                    <a:pt x="2582333" y="0"/>
                  </a:lnTo>
                  <a:cubicBezTo>
                    <a:pt x="2629093" y="0"/>
                    <a:pt x="2667000" y="37907"/>
                    <a:pt x="2667000" y="84667"/>
                  </a:cubicBezTo>
                  <a:lnTo>
                    <a:pt x="2667000" y="1248833"/>
                  </a:lnTo>
                  <a:cubicBezTo>
                    <a:pt x="2667000" y="1295593"/>
                    <a:pt x="2629093" y="1333500"/>
                    <a:pt x="2582333" y="1333500"/>
                  </a:cubicBezTo>
                  <a:lnTo>
                    <a:pt x="84667" y="1333500"/>
                  </a:lnTo>
                  <a:cubicBezTo>
                    <a:pt x="37907" y="1333500"/>
                    <a:pt x="0" y="1295593"/>
                    <a:pt x="0" y="1248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TOWER T1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5334000" y="4352925"/>
            <a:ext cx="476250" cy="1143000"/>
          </a:xfrm>
          <a:prstGeom prst="line">
            <a:avLst/>
          </a:prstGeom>
          <a:ln cap="rnd" w="38100">
            <a:solidFill>
              <a:srgbClr val="35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810250" y="3857625"/>
            <a:ext cx="2000250" cy="1000125"/>
            <a:chOff x="0" y="0"/>
            <a:chExt cx="2667000" cy="133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84667" y="0"/>
                  </a:moveTo>
                  <a:lnTo>
                    <a:pt x="2582333" y="0"/>
                  </a:lnTo>
                  <a:cubicBezTo>
                    <a:pt x="2629093" y="0"/>
                    <a:pt x="2667000" y="37907"/>
                    <a:pt x="2667000" y="84667"/>
                  </a:cubicBezTo>
                  <a:lnTo>
                    <a:pt x="2667000" y="1248833"/>
                  </a:lnTo>
                  <a:cubicBezTo>
                    <a:pt x="2667000" y="1295593"/>
                    <a:pt x="2629093" y="1333500"/>
                    <a:pt x="2582333" y="1333500"/>
                  </a:cubicBezTo>
                  <a:lnTo>
                    <a:pt x="84667" y="1333500"/>
                  </a:lnTo>
                  <a:cubicBezTo>
                    <a:pt x="37907" y="1333500"/>
                    <a:pt x="0" y="1295593"/>
                    <a:pt x="0" y="1248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LINE L1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810500" y="4352925"/>
            <a:ext cx="476250" cy="1143000"/>
          </a:xfrm>
          <a:prstGeom prst="line">
            <a:avLst/>
          </a:prstGeom>
          <a:ln cap="rnd" w="38100">
            <a:solidFill>
              <a:srgbClr val="35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286750" y="5000625"/>
            <a:ext cx="2000250" cy="1000125"/>
            <a:chOff x="0" y="0"/>
            <a:chExt cx="2667000" cy="1333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84667" y="0"/>
                  </a:moveTo>
                  <a:lnTo>
                    <a:pt x="2582333" y="0"/>
                  </a:lnTo>
                  <a:cubicBezTo>
                    <a:pt x="2629093" y="0"/>
                    <a:pt x="2667000" y="37907"/>
                    <a:pt x="2667000" y="84667"/>
                  </a:cubicBezTo>
                  <a:lnTo>
                    <a:pt x="2667000" y="1248833"/>
                  </a:lnTo>
                  <a:cubicBezTo>
                    <a:pt x="2667000" y="1295593"/>
                    <a:pt x="2629093" y="1333500"/>
                    <a:pt x="2582333" y="1333500"/>
                  </a:cubicBezTo>
                  <a:lnTo>
                    <a:pt x="84667" y="1333500"/>
                  </a:lnTo>
                  <a:cubicBezTo>
                    <a:pt x="37907" y="1333500"/>
                    <a:pt x="0" y="1295593"/>
                    <a:pt x="0" y="1248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5A1724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TOWER T2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0287000" y="4352925"/>
            <a:ext cx="476250" cy="1143000"/>
          </a:xfrm>
          <a:prstGeom prst="line">
            <a:avLst/>
          </a:prstGeom>
          <a:ln cap="rnd" w="38100">
            <a:solidFill>
              <a:srgbClr val="FF3B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0763250" y="3857625"/>
            <a:ext cx="2000250" cy="1000125"/>
            <a:chOff x="0" y="0"/>
            <a:chExt cx="2667000" cy="1333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84667" y="0"/>
                  </a:moveTo>
                  <a:lnTo>
                    <a:pt x="2582333" y="0"/>
                  </a:lnTo>
                  <a:cubicBezTo>
                    <a:pt x="2629093" y="0"/>
                    <a:pt x="2667000" y="37907"/>
                    <a:pt x="2667000" y="84667"/>
                  </a:cubicBezTo>
                  <a:lnTo>
                    <a:pt x="2667000" y="1248833"/>
                  </a:lnTo>
                  <a:cubicBezTo>
                    <a:pt x="2667000" y="1295593"/>
                    <a:pt x="2629093" y="1333500"/>
                    <a:pt x="2582333" y="1333500"/>
                  </a:cubicBezTo>
                  <a:lnTo>
                    <a:pt x="84667" y="1333500"/>
                  </a:lnTo>
                  <a:cubicBezTo>
                    <a:pt x="37907" y="1333500"/>
                    <a:pt x="0" y="1295593"/>
                    <a:pt x="0" y="1248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SUBSTATION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763500" y="4352925"/>
            <a:ext cx="476250" cy="1143000"/>
          </a:xfrm>
          <a:prstGeom prst="line">
            <a:avLst/>
          </a:prstGeom>
          <a:ln cap="rnd" w="38100">
            <a:solidFill>
              <a:srgbClr val="FF3B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3239750" y="5000625"/>
            <a:ext cx="2000250" cy="1000125"/>
            <a:chOff x="0" y="0"/>
            <a:chExt cx="2667000" cy="1333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84667" y="0"/>
                  </a:moveTo>
                  <a:lnTo>
                    <a:pt x="2582333" y="0"/>
                  </a:lnTo>
                  <a:cubicBezTo>
                    <a:pt x="2629093" y="0"/>
                    <a:pt x="2667000" y="37907"/>
                    <a:pt x="2667000" y="84667"/>
                  </a:cubicBezTo>
                  <a:lnTo>
                    <a:pt x="2667000" y="1248833"/>
                  </a:lnTo>
                  <a:cubicBezTo>
                    <a:pt x="2667000" y="1295593"/>
                    <a:pt x="2629093" y="1333500"/>
                    <a:pt x="2582333" y="1333500"/>
                  </a:cubicBezTo>
                  <a:lnTo>
                    <a:pt x="84667" y="1333500"/>
                  </a:lnTo>
                  <a:cubicBezTo>
                    <a:pt x="37907" y="1333500"/>
                    <a:pt x="0" y="1295593"/>
                    <a:pt x="0" y="1248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TRANSFORMER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15240000" y="4352925"/>
            <a:ext cx="476250" cy="1143000"/>
          </a:xfrm>
          <a:prstGeom prst="line">
            <a:avLst/>
          </a:prstGeom>
          <a:ln cap="rnd" w="38100">
            <a:solidFill>
              <a:srgbClr val="FF3B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5716250" y="3857625"/>
            <a:ext cx="2000250" cy="1000125"/>
            <a:chOff x="0" y="0"/>
            <a:chExt cx="2667000" cy="1333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6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667000">
                  <a:moveTo>
                    <a:pt x="84667" y="0"/>
                  </a:moveTo>
                  <a:lnTo>
                    <a:pt x="2582333" y="0"/>
                  </a:lnTo>
                  <a:cubicBezTo>
                    <a:pt x="2629093" y="0"/>
                    <a:pt x="2667000" y="37907"/>
                    <a:pt x="2667000" y="84667"/>
                  </a:cubicBezTo>
                  <a:lnTo>
                    <a:pt x="2667000" y="1248833"/>
                  </a:lnTo>
                  <a:cubicBezTo>
                    <a:pt x="2667000" y="1295593"/>
                    <a:pt x="2629093" y="1333500"/>
                    <a:pt x="2582333" y="1333500"/>
                  </a:cubicBezTo>
                  <a:lnTo>
                    <a:pt x="84667" y="1333500"/>
                  </a:lnTo>
                  <a:cubicBezTo>
                    <a:pt x="37907" y="1333500"/>
                    <a:pt x="0" y="1295593"/>
                    <a:pt x="0" y="1248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667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FEEDERS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001000" y="6629400"/>
            <a:ext cx="3619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79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FAILURE ORIGIN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24250" y="7581900"/>
            <a:ext cx="112395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GridGuard AI calculates downstream load, customers and restoration options before operators act.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8200" y="9715500"/>
            <a:ext cx="166116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GRIDGUARD AI  •  PREDICT  /  PRIORITIZE  /  PREVENT                                      09</a:t>
            </a:r>
          </a:p>
        </p:txBody>
      </p:sp>
    </p:spTree>
  </p:cSld>
  <p:clrMapOvr>
    <a:masterClrMapping/>
  </p:clrMapOvr>
  <p:transition spd="med">
    <p:cover dir="ru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14350"/>
            <a:ext cx="10001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10  /  GRIDGUARD AI  ·  AI PIPELINE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47750"/>
            <a:ext cx="14287500" cy="6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Signals in. Decisions out.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3333750"/>
            <a:ext cx="2714625" cy="1428750"/>
            <a:chOff x="0" y="0"/>
            <a:chExt cx="3619500" cy="190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19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842614"/>
                  </a:lnTo>
                  <a:cubicBezTo>
                    <a:pt x="3619500" y="1859160"/>
                    <a:pt x="3612927" y="1875028"/>
                    <a:pt x="3601227" y="1886728"/>
                  </a:cubicBezTo>
                  <a:cubicBezTo>
                    <a:pt x="3589528" y="1898427"/>
                    <a:pt x="3573660" y="1905000"/>
                    <a:pt x="3557114" y="1905000"/>
                  </a:cubicBezTo>
                  <a:lnTo>
                    <a:pt x="62386" y="1905000"/>
                  </a:lnTo>
                  <a:cubicBezTo>
                    <a:pt x="45840" y="1905000"/>
                    <a:pt x="29972" y="1898427"/>
                    <a:pt x="18272" y="1886728"/>
                  </a:cubicBezTo>
                  <a:cubicBezTo>
                    <a:pt x="6573" y="1875028"/>
                    <a:pt x="0" y="1859160"/>
                    <a:pt x="0" y="18426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195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SCADA + SENSORS</a:t>
              </a:r>
            </a:p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WEATHER · FAULTS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571875" y="4048125"/>
            <a:ext cx="714375" cy="1143000"/>
          </a:xfrm>
          <a:prstGeom prst="line">
            <a:avLst/>
          </a:prstGeom>
          <a:ln cap="rnd" w="47625">
            <a:solidFill>
              <a:srgbClr val="35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286250" y="4476750"/>
            <a:ext cx="2714625" cy="1428750"/>
            <a:chOff x="0" y="0"/>
            <a:chExt cx="36195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19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842614"/>
                  </a:lnTo>
                  <a:cubicBezTo>
                    <a:pt x="3619500" y="1859160"/>
                    <a:pt x="3612927" y="1875028"/>
                    <a:pt x="3601227" y="1886728"/>
                  </a:cubicBezTo>
                  <a:cubicBezTo>
                    <a:pt x="3589528" y="1898427"/>
                    <a:pt x="3573660" y="1905000"/>
                    <a:pt x="3557114" y="1905000"/>
                  </a:cubicBezTo>
                  <a:lnTo>
                    <a:pt x="62386" y="1905000"/>
                  </a:lnTo>
                  <a:cubicBezTo>
                    <a:pt x="45840" y="1905000"/>
                    <a:pt x="29972" y="1898427"/>
                    <a:pt x="18272" y="1886728"/>
                  </a:cubicBezTo>
                  <a:cubicBezTo>
                    <a:pt x="6573" y="1875028"/>
                    <a:pt x="0" y="1859160"/>
                    <a:pt x="0" y="18426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5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ANOMALY</a:t>
              </a:r>
            </a:p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DETECTION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7000875" y="4048125"/>
            <a:ext cx="714375" cy="1143000"/>
          </a:xfrm>
          <a:prstGeom prst="line">
            <a:avLst/>
          </a:prstGeom>
          <a:ln cap="rnd" w="47625">
            <a:solidFill>
              <a:srgbClr val="35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715250" y="3333750"/>
            <a:ext cx="2714625" cy="1428750"/>
            <a:chOff x="0" y="0"/>
            <a:chExt cx="36195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19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19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842614"/>
                  </a:lnTo>
                  <a:cubicBezTo>
                    <a:pt x="3619500" y="1859160"/>
                    <a:pt x="3612927" y="1875028"/>
                    <a:pt x="3601227" y="1886728"/>
                  </a:cubicBezTo>
                  <a:cubicBezTo>
                    <a:pt x="3589528" y="1898427"/>
                    <a:pt x="3573660" y="1905000"/>
                    <a:pt x="3557114" y="1905000"/>
                  </a:cubicBezTo>
                  <a:lnTo>
                    <a:pt x="62386" y="1905000"/>
                  </a:lnTo>
                  <a:cubicBezTo>
                    <a:pt x="45840" y="1905000"/>
                    <a:pt x="29972" y="1898427"/>
                    <a:pt x="18272" y="1886728"/>
                  </a:cubicBezTo>
                  <a:cubicBezTo>
                    <a:pt x="6573" y="1875028"/>
                    <a:pt x="0" y="1859160"/>
                    <a:pt x="0" y="18426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6195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FAILURE</a:t>
              </a:r>
            </a:p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PREDICTION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429875" y="4048125"/>
            <a:ext cx="714375" cy="1143000"/>
          </a:xfrm>
          <a:prstGeom prst="line">
            <a:avLst/>
          </a:prstGeom>
          <a:ln cap="rnd" w="47625">
            <a:solidFill>
              <a:srgbClr val="35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1144250" y="4476750"/>
            <a:ext cx="2714625" cy="1428750"/>
            <a:chOff x="0" y="0"/>
            <a:chExt cx="3619500" cy="190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9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19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842614"/>
                  </a:lnTo>
                  <a:cubicBezTo>
                    <a:pt x="3619500" y="1859160"/>
                    <a:pt x="3612927" y="1875028"/>
                    <a:pt x="3601227" y="1886728"/>
                  </a:cubicBezTo>
                  <a:cubicBezTo>
                    <a:pt x="3589528" y="1898427"/>
                    <a:pt x="3573660" y="1905000"/>
                    <a:pt x="3557114" y="1905000"/>
                  </a:cubicBezTo>
                  <a:lnTo>
                    <a:pt x="62386" y="1905000"/>
                  </a:lnTo>
                  <a:cubicBezTo>
                    <a:pt x="45840" y="1905000"/>
                    <a:pt x="29972" y="1898427"/>
                    <a:pt x="18272" y="1886728"/>
                  </a:cubicBezTo>
                  <a:cubicBezTo>
                    <a:pt x="6573" y="1875028"/>
                    <a:pt x="0" y="1859160"/>
                    <a:pt x="0" y="18426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102938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195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RISK</a:t>
              </a:r>
            </a:p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SCORING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3858875" y="4048125"/>
            <a:ext cx="714375" cy="1143000"/>
          </a:xfrm>
          <a:prstGeom prst="line">
            <a:avLst/>
          </a:prstGeom>
          <a:ln cap="rnd" w="47625">
            <a:solidFill>
              <a:srgbClr val="35E7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573250" y="3333750"/>
            <a:ext cx="2714625" cy="1428750"/>
            <a:chOff x="0" y="0"/>
            <a:chExt cx="36195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19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19500">
                  <a:moveTo>
                    <a:pt x="62386" y="0"/>
                  </a:moveTo>
                  <a:lnTo>
                    <a:pt x="3557114" y="0"/>
                  </a:lnTo>
                  <a:cubicBezTo>
                    <a:pt x="3573660" y="0"/>
                    <a:pt x="3589528" y="6573"/>
                    <a:pt x="3601227" y="18272"/>
                  </a:cubicBezTo>
                  <a:cubicBezTo>
                    <a:pt x="3612927" y="29972"/>
                    <a:pt x="3619500" y="45840"/>
                    <a:pt x="3619500" y="62386"/>
                  </a:cubicBezTo>
                  <a:lnTo>
                    <a:pt x="3619500" y="1842614"/>
                  </a:lnTo>
                  <a:cubicBezTo>
                    <a:pt x="3619500" y="1859160"/>
                    <a:pt x="3612927" y="1875028"/>
                    <a:pt x="3601227" y="1886728"/>
                  </a:cubicBezTo>
                  <a:cubicBezTo>
                    <a:pt x="3589528" y="1898427"/>
                    <a:pt x="3573660" y="1905000"/>
                    <a:pt x="3557114" y="1905000"/>
                  </a:cubicBezTo>
                  <a:lnTo>
                    <a:pt x="62386" y="1905000"/>
                  </a:lnTo>
                  <a:cubicBezTo>
                    <a:pt x="45840" y="1905000"/>
                    <a:pt x="29972" y="1898427"/>
                    <a:pt x="18272" y="1886728"/>
                  </a:cubicBezTo>
                  <a:cubicBezTo>
                    <a:pt x="6573" y="1875028"/>
                    <a:pt x="0" y="1859160"/>
                    <a:pt x="0" y="1842614"/>
                  </a:cubicBezTo>
                  <a:lnTo>
                    <a:pt x="0" y="62386"/>
                  </a:lnTo>
                  <a:cubicBezTo>
                    <a:pt x="0" y="45840"/>
                    <a:pt x="6573" y="29972"/>
                    <a:pt x="18272" y="18272"/>
                  </a:cubicBezTo>
                  <a:cubicBezTo>
                    <a:pt x="29972" y="6573"/>
                    <a:pt x="45840" y="0"/>
                    <a:pt x="62386" y="0"/>
                  </a:cubicBezTo>
                  <a:close/>
                </a:path>
              </a:pathLst>
            </a:custGeom>
            <a:solidFill>
              <a:srgbClr val="143F42"/>
            </a:solidFill>
            <a:ln w="19050" cap="sq">
              <a:solidFill>
                <a:srgbClr val="35E7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6195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OPERATOR</a:t>
              </a:r>
            </a:p>
            <a:p>
              <a:pPr algn="ctr">
                <a:lnSpc>
                  <a:spcPts val="2204"/>
                </a:lnSpc>
              </a:pPr>
              <a:r>
                <a:rPr lang="en-US" sz="1575" b="true">
                  <a:solidFill>
                    <a:srgbClr val="F2FB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COPILOT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857500" y="7581900"/>
            <a:ext cx="12573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179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MAINTENANCE PRIORITY  ·  CREW POSITIONING  ·  SPARE PARTS PLANNING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8200" y="9715500"/>
            <a:ext cx="166116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GRIDGUARD AI  •  PREDICT  /  PRIORITIZE  /  PREVENT                                      10</a:t>
            </a:r>
          </a:p>
        </p:txBody>
      </p:sp>
    </p:spTree>
  </p:cSld>
  <p:clrMapOvr>
    <a:masterClrMapping/>
  </p:clrMapOvr>
  <p:transition spd="med">
    <p:cover dir="r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514350"/>
            <a:ext cx="10001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11  /  GRIDGUARD AI  ·  RISK HEATMAP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8200" y="1047750"/>
            <a:ext cx="14287500" cy="6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signature view: one live grid risk map.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38200" y="2333625"/>
            <a:ext cx="11239500" cy="6572250"/>
          </a:xfrm>
          <a:custGeom>
            <a:avLst/>
            <a:gdLst/>
            <a:ahLst/>
            <a:cxnLst/>
            <a:rect r="r" b="b" t="t" l="l"/>
            <a:pathLst>
              <a:path h="6572250" w="11239500">
                <a:moveTo>
                  <a:pt x="0" y="0"/>
                </a:moveTo>
                <a:lnTo>
                  <a:pt x="11239500" y="0"/>
                </a:lnTo>
                <a:lnTo>
                  <a:pt x="112395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7" t="0" r="-1977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2954000" y="2705100"/>
            <a:ext cx="40957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625">
                <a:solidFill>
                  <a:srgbClr val="FF3B57"/>
                </a:solidFill>
                <a:latin typeface="Archivo Black"/>
                <a:ea typeface="Archivo Black"/>
                <a:cs typeface="Archivo Black"/>
                <a:sym typeface="Archivo Black"/>
              </a:rPr>
              <a:t>CRITICAL ZONE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54000" y="3609975"/>
            <a:ext cx="361950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1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L-204   84%</a:t>
            </a:r>
          </a:p>
          <a:p>
            <a:pPr algn="l">
              <a:lnSpc>
                <a:spcPts val="4725"/>
              </a:lnSpc>
            </a:pPr>
            <a:r>
              <a:rPr lang="en-US" sz="31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T-108   82%</a:t>
            </a:r>
          </a:p>
          <a:p>
            <a:pPr algn="l">
              <a:lnSpc>
                <a:spcPts val="4725"/>
              </a:lnSpc>
            </a:pPr>
            <a:r>
              <a:rPr lang="en-US" sz="31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S-4       71%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54000" y="6391275"/>
            <a:ext cx="4000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STORM IN 8 HOURS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54000" y="6924675"/>
            <a:ext cx="40005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2FB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Pre-position crew. Inspect critical assets.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" y="8410575"/>
            <a:ext cx="857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F2FB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LOW     MODERATE     HIGH     CRITICAL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200" y="9715500"/>
            <a:ext cx="166116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20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GRIDGUARD AI  •  PREDICT  /  PRIORITIZE  /  PREVENT                                      11</a:t>
            </a:r>
          </a:p>
        </p:txBody>
      </p:sp>
    </p:spTree>
  </p:cSld>
  <p:clrMapOvr>
    <a:masterClrMapping/>
  </p:clrMapOvr>
  <p:transition spd="med">
    <p:cover dir="ru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018">
                <a:alpha val="6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38200" y="1771650"/>
            <a:ext cx="762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GRIDGUARD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200" y="2886075"/>
            <a:ext cx="12382500" cy="2032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76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Predictive intelligence.</a:t>
            </a:r>
          </a:p>
          <a:p>
            <a:pPr algn="l">
              <a:lnSpc>
                <a:spcPts val="7803"/>
              </a:lnSpc>
            </a:pPr>
            <a:r>
              <a:rPr lang="en-US" sz="7650">
                <a:solidFill>
                  <a:srgbClr val="F2FB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 more resilient grid.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38200" y="6858000"/>
            <a:ext cx="1905000" cy="57150"/>
            <a:chOff x="0" y="0"/>
            <a:chExt cx="25400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0000" cy="76200"/>
            </a:xfrm>
            <a:custGeom>
              <a:avLst/>
              <a:gdLst/>
              <a:ahLst/>
              <a:cxnLst/>
              <a:rect r="r" b="b" t="t" l="l"/>
              <a:pathLst>
                <a:path h="762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40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38200" y="7200900"/>
            <a:ext cx="9525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spc="162" b="true">
                <a:solidFill>
                  <a:srgbClr val="35E7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LET’S TRANSFORM GRID RESILIENCE TOGETHER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8200" y="8553450"/>
            <a:ext cx="666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>
                <a:solidFill>
                  <a:srgbClr val="8FA9B8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HACKATHON 2026  ·  TEAM GRIDGUARD</a:t>
            </a:r>
          </a:p>
        </p:txBody>
      </p:sp>
    </p:spTree>
  </p:cSld>
  <p:clrMapOvr>
    <a:masterClrMapping/>
  </p:clrMapOvr>
  <p:transition spd="med">
    <p:cover dir="r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DAHVQGSDNsw</dc:identifier>
  <dcterms:modified xsi:type="dcterms:W3CDTF">2011-08-01T06:04:30Z</dcterms:modified>
  <cp:revision>1</cp:revision>
  <dc:title>GridGuard AI Animated PPT</dc:title>
</cp:coreProperties>
</file>